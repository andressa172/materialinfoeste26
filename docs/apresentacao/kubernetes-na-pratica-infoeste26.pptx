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</p:sldIdLst>
  <p:sldSz cy="5143500" cx="9144000"/>
  <p:notesSz cx="6858000" cy="9144000"/>
  <p:embeddedFontLst>
    <p:embeddedFont>
      <p:font typeface="Roboto Mono Light"/>
      <p:regular r:id="rId77"/>
      <p:bold r:id="rId78"/>
      <p:italic r:id="rId79"/>
      <p:boldItalic r:id="rId80"/>
    </p:embeddedFont>
    <p:embeddedFont>
      <p:font typeface="Google Sans"/>
      <p:regular r:id="rId81"/>
      <p:bold r:id="rId82"/>
      <p:italic r:id="rId83"/>
      <p:boldItalic r:id="rId84"/>
    </p:embeddedFont>
    <p:embeddedFont>
      <p:font typeface="Google Sans Medium"/>
      <p:regular r:id="rId85"/>
      <p:bold r:id="rId86"/>
      <p:italic r:id="rId87"/>
      <p:boldItalic r:id="rId88"/>
    </p:embeddedFont>
    <p:embeddedFont>
      <p:font typeface="Roboto Mono Thin"/>
      <p:regular r:id="rId89"/>
      <p:bold r:id="rId90"/>
      <p:italic r:id="rId91"/>
      <p:boldItalic r:id="rId92"/>
    </p:embeddedFont>
    <p:embeddedFont>
      <p:font typeface="Roboto Mono ExtraLight"/>
      <p:regular r:id="rId93"/>
      <p:bold r:id="rId94"/>
      <p:italic r:id="rId95"/>
      <p:boldItalic r:id="rId96"/>
    </p:embeddedFont>
    <p:embeddedFont>
      <p:font typeface="Roboto Mono"/>
      <p:regular r:id="rId97"/>
      <p:bold r:id="rId98"/>
      <p:italic r:id="rId99"/>
      <p:boldItalic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09">
          <p15:clr>
            <a:srgbClr val="747775"/>
          </p15:clr>
        </p15:guide>
        <p15:guide id="4" pos="5499">
          <p15:clr>
            <a:srgbClr val="747775"/>
          </p15:clr>
        </p15:guide>
        <p15:guide id="5" pos="233">
          <p15:clr>
            <a:srgbClr val="747775"/>
          </p15:clr>
        </p15:guide>
        <p15:guide id="6" orient="horz" pos="765">
          <p15:clr>
            <a:srgbClr val="747775"/>
          </p15:clr>
        </p15:guide>
        <p15:guide id="7" orient="horz" pos="861">
          <p15:clr>
            <a:srgbClr val="747775"/>
          </p15:clr>
        </p15:guide>
        <p15:guide id="8" orient="horz" pos="957">
          <p15:clr>
            <a:srgbClr val="747775"/>
          </p15:clr>
        </p15:guide>
        <p15:guide id="9" pos="310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09" orient="horz"/>
        <p:guide pos="5499"/>
        <p:guide pos="233"/>
        <p:guide pos="765" orient="horz"/>
        <p:guide pos="861" orient="horz"/>
        <p:guide pos="957" orient="horz"/>
        <p:guide pos="310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7" Type="http://schemas.openxmlformats.org/officeDocument/2006/relationships/font" Target="fonts/RobotoMonoLight-regular.fntdata"/><Relationship Id="rId78" Type="http://schemas.openxmlformats.org/officeDocument/2006/relationships/font" Target="fonts/RobotoMonoLight-bold.fntdata"/><Relationship Id="rId79" Type="http://schemas.openxmlformats.org/officeDocument/2006/relationships/font" Target="fonts/RobotoMonoLight-italic.fntdata"/><Relationship Id="rId80" Type="http://schemas.openxmlformats.org/officeDocument/2006/relationships/font" Target="fonts/RobotoMonoLight-boldItalic.fntdata"/><Relationship Id="rId81" Type="http://schemas.openxmlformats.org/officeDocument/2006/relationships/font" Target="fonts/GoogleSans-regular.fntdata"/><Relationship Id="rId82" Type="http://schemas.openxmlformats.org/officeDocument/2006/relationships/font" Target="fonts/GoogleSans-bold.fntdata"/><Relationship Id="rId83" Type="http://schemas.openxmlformats.org/officeDocument/2006/relationships/font" Target="fonts/GoogleSans-italic.fntdata"/><Relationship Id="rId84" Type="http://schemas.openxmlformats.org/officeDocument/2006/relationships/font" Target="fonts/GoogleSans-boldItalic.fntdata"/><Relationship Id="rId85" Type="http://schemas.openxmlformats.org/officeDocument/2006/relationships/font" Target="fonts/GoogleSansMedium-regular.fntdata"/><Relationship Id="rId86" Type="http://schemas.openxmlformats.org/officeDocument/2006/relationships/font" Target="fonts/GoogleSansMedium-bold.fntdata"/><Relationship Id="rId87" Type="http://schemas.openxmlformats.org/officeDocument/2006/relationships/font" Target="fonts/GoogleSansMedium-italic.fntdata"/><Relationship Id="rId88" Type="http://schemas.openxmlformats.org/officeDocument/2006/relationships/font" Target="fonts/GoogleSansMedium-boldItalic.fntdata"/><Relationship Id="rId89" Type="http://schemas.openxmlformats.org/officeDocument/2006/relationships/font" Target="fonts/RobotoMonoThin-regular.fntdata"/><Relationship Id="rId90" Type="http://schemas.openxmlformats.org/officeDocument/2006/relationships/font" Target="fonts/RobotoMonoThin-bold.fntdata"/><Relationship Id="rId91" Type="http://schemas.openxmlformats.org/officeDocument/2006/relationships/font" Target="fonts/RobotoMonoThin-italic.fntdata"/><Relationship Id="rId92" Type="http://schemas.openxmlformats.org/officeDocument/2006/relationships/font" Target="fonts/RobotoMonoThin-boldItalic.fntdata"/><Relationship Id="rId93" Type="http://schemas.openxmlformats.org/officeDocument/2006/relationships/font" Target="fonts/RobotoMonoExtraLight-regular.fntdata"/><Relationship Id="rId94" Type="http://schemas.openxmlformats.org/officeDocument/2006/relationships/font" Target="fonts/RobotoMonoExtraLight-bold.fntdata"/><Relationship Id="rId95" Type="http://schemas.openxmlformats.org/officeDocument/2006/relationships/font" Target="fonts/RobotoMonoExtraLight-italic.fntdata"/><Relationship Id="rId96" Type="http://schemas.openxmlformats.org/officeDocument/2006/relationships/font" Target="fonts/RobotoMonoExtraLight-boldItalic.fntdata"/><Relationship Id="rId97" Type="http://schemas.openxmlformats.org/officeDocument/2006/relationships/font" Target="fonts/RobotoMono-regular.fntdata"/><Relationship Id="rId98" Type="http://schemas.openxmlformats.org/officeDocument/2006/relationships/font" Target="fonts/RobotoMono-bold.fntdata"/><Relationship Id="rId99" Type="http://schemas.openxmlformats.org/officeDocument/2006/relationships/font" Target="fonts/RobotoMono-italic.fntdata"/><Relationship Id="rId100" Type="http://schemas.openxmlformats.org/officeDocument/2006/relationships/font" Target="fonts/RobotoMono-boldItalic.fntdata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Logo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0F0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b="1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●"/>
              <a:defRPr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●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●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6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/>
        </p:nvSpPr>
        <p:spPr>
          <a:xfrm>
            <a:off x="784084" y="1079087"/>
            <a:ext cx="1659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Auditório FIPP</a:t>
            </a:r>
            <a:endParaRPr sz="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812542" y="3741563"/>
            <a:ext cx="429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Andressa Felisberto Ferreira Diniz</a:t>
            </a: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&amp; Felipe Meneghetti Barreto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DevOps · GDG Presidente Prudente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794394" y="1795300"/>
            <a:ext cx="74457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Kubernetes na Prática: Deploy Real em Ambiente Produtivo</a:t>
            </a:r>
            <a:endParaRPr b="1" sz="6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749760" y="209432"/>
            <a:ext cx="16599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DevFest</a:t>
            </a:r>
            <a:endParaRPr sz="26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01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DevOps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3267100" y="2295157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Automação, entrega contínua e responsabilidade compartilhada entre Dev e Ops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 que é DevOps?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Une Desenvolvimento (Dev) e Operação (Ops)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Automação e entrega contínua no dia a dia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Responsabilidade compartilhada em produção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Kubernetes: ferramenta central do Ops hoje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02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Como era o deploy antigamente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3267100" y="2911574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Servidores físicos — e por que alguns ainda usam até hoje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7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848075" y="772782"/>
            <a:ext cx="71640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Deploy antigamente: servidores físicos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848075" y="1551778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Comprar/alugar e configurar tudo manualmente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Um servidor por app: caro e difícil de escalar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Falha de hardware podia derrubar tudo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Ainda usado em bancos, governo e sistemas legados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03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Máquinas Virtuais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3267100" y="3530296"/>
            <a:ext cx="28560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Melhor uso de hardware, mas ainda pesado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 que é uma Máquina Virtual?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Hypervisor roda várias VMs isoladas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Cada VM carrega um SO completo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Melhor uso de hardware que servidor físico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Ainda pesada: lenta pra subir, consome memória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04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3264075" y="781200"/>
            <a:ext cx="5211000" cy="23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Containers</a:t>
            </a:r>
            <a:endParaRPr b="1" sz="3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 Docker: o problema que o Kubernetes resolve</a:t>
            </a:r>
            <a:endParaRPr b="1" sz="3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3267100" y="3292632"/>
            <a:ext cx="28560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O que muda quando empacotamos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só o necessário para rodar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7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848075" y="772782"/>
            <a:ext cx="71640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Containers: o que muda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848075" y="1551778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Compartilham o kernel do sistema hospedeiro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Empacotam só o necessário: leve e rápido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Imagem = molde; container = instância rodando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 mesma imagem roda igual em qualquer máquina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Demonstração ao vivo: Docker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docker run hello-world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docker run -d -p 8080:80 nginx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docker ps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docker stop &lt;id&gt; &amp;&amp; docker rm &lt;id&gt;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05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3264075" y="781200"/>
            <a:ext cx="5211000" cy="29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Por que o Kubernetes virou padrão de mercado?</a:t>
            </a:r>
            <a:endParaRPr b="1" sz="3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3267100" y="3856634"/>
            <a:ext cx="28560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Quando dezenas de containers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precisam ser orquestrados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 que o Kubernetes resolve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Auto-healing: reinicia o que falha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Escalonamento automático sob demanda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Load balancing entre réplicas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Portabilidade entre nuvens (CNCF)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/>
          <p:nvPr/>
        </p:nvSpPr>
        <p:spPr>
          <a:xfrm>
            <a:off x="308125" y="323700"/>
            <a:ext cx="4500300" cy="693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É o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308125" y="4125150"/>
            <a:ext cx="4500300" cy="693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orquestrador de containers mais usado do mundo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5072010" y="323700"/>
            <a:ext cx="1111500" cy="1111500"/>
          </a:xfrm>
          <a:prstGeom prst="ellipse">
            <a:avLst/>
          </a:prstGeom>
          <a:solidFill>
            <a:srgbClr val="FFE79C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7744135" y="3707705"/>
            <a:ext cx="1111500" cy="1111500"/>
          </a:xfrm>
          <a:prstGeom prst="ellipse">
            <a:avLst/>
          </a:prstGeom>
          <a:solidFill>
            <a:srgbClr val="FED7D7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4960025" y="323700"/>
            <a:ext cx="2746500" cy="4495500"/>
          </a:xfrm>
          <a:prstGeom prst="parallelogram">
            <a:avLst>
              <a:gd fmla="val 65106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3ECF6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259" name="Google Shape;25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170" y="1368424"/>
            <a:ext cx="377934" cy="241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411048" y="1368424"/>
            <a:ext cx="377934" cy="241107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/>
          <p:nvPr/>
        </p:nvSpPr>
        <p:spPr>
          <a:xfrm>
            <a:off x="6146607" y="323700"/>
            <a:ext cx="2746500" cy="4495500"/>
          </a:xfrm>
          <a:prstGeom prst="parallelogram">
            <a:avLst>
              <a:gd fmla="val 65106" name="adj"/>
            </a:avLst>
          </a:prstGeom>
          <a:solidFill>
            <a:srgbClr val="C1F8C0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62" name="Google Shape;262;p33"/>
          <p:cNvSpPr txBox="1"/>
          <p:nvPr>
            <p:ph idx="4294967295" type="title"/>
          </p:nvPr>
        </p:nvSpPr>
        <p:spPr>
          <a:xfrm>
            <a:off x="332175" y="1831775"/>
            <a:ext cx="4456800" cy="146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10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#1</a:t>
            </a:r>
            <a:endParaRPr b="0" sz="110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3724885" y="843311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Arquitetura do Kubernetes por dentro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3704182" y="2975674"/>
            <a:ext cx="36294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Control plane, nodes,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pods e workloads —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como tudo se conecta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834541" y="209432"/>
            <a:ext cx="1659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06</a:t>
            </a:r>
            <a:endParaRPr sz="25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791640" y="993262"/>
            <a:ext cx="16599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Arquitetura</a:t>
            </a:r>
            <a:endParaRPr sz="7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Cluster, Node e Pod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Cluster: conjunto de nós como uma unidade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Node: VM ou servidor físico que roda Pods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Pod: menor unidade (um ou mais containers)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Control plane decide, nodes executam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7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848075" y="772782"/>
            <a:ext cx="71640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Imagem, porta e namespace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848075" y="1551778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Imagem: pacote da app, vem de um registry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containerPort x porta do Service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Namespace divide o cluster logicamente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kube-system é reservado pro Kubernetes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Workloads: quem gerencia os Pods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ReplicaSet garante N réplicas rodando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Deployment: rollout e rollback automáticos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StatefulSet: apps com estado e identidade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DaemonSet: 1 Pod em todo nó do cluster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7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848075" y="772782"/>
            <a:ext cx="71640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Versões e o que instalar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848075" y="1551778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Nova versão a cada ~4 meses: atualize sempre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kubectl fala com a API do cluster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Cluster: k3s, minikube, EKS, GKE, AKS...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Produção: Ingress Controller + ArgoCD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5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/>
        </p:nvSpPr>
        <p:spPr>
          <a:xfrm>
            <a:off x="848075" y="800800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apiVersion — versão da API do recurso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kind — tipo do recurso a criar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i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metadata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— nome, namespace e labels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spec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— o que você quer que exista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8001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É declarativo: você diz o estado desejado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298450" lvl="1" marL="8001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O Kubernetes cuida de alcançar sozinho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48075" y="360000"/>
            <a:ext cx="7164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1E"/>
                </a:solidFill>
                <a:latin typeface="Google Sans"/>
              </a:rPr>
              <a:t>Arquivo YAML: 4 campos obrigatórios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3724885" y="812255"/>
            <a:ext cx="4682100" cy="23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GitOps, Ingress</a:t>
            </a:r>
            <a:endParaRPr b="1" sz="3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 DuckDNS: a entrega fica automática</a:t>
            </a:r>
            <a:endParaRPr b="1" sz="3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3724885" y="3323679"/>
            <a:ext cx="2569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Do commit no Git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até o cluster atualizado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791640" y="993262"/>
            <a:ext cx="16599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GitOps</a:t>
            </a:r>
            <a:endParaRPr sz="7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834541" y="209432"/>
            <a:ext cx="1659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07</a:t>
            </a:r>
            <a:endParaRPr sz="25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 que é GitOps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Git é a fonte da verdade do cluster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ArgoCD observa um repositório e branch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Commit nos manifests = sincronização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selfHeal desfaz mudanças manuais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7"/>
          <p:cNvSpPr/>
          <p:nvPr/>
        </p:nvSpPr>
        <p:spPr>
          <a:xfrm>
            <a:off x="256000" y="247500"/>
            <a:ext cx="8457000" cy="615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Fluxo do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GitOps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cxnSp>
        <p:nvCxnSpPr>
          <p:cNvPr id="531" name="Google Shape;531;p57"/>
          <p:cNvCxnSpPr>
            <a:stCxn id="532" idx="2"/>
            <a:endCxn id="533" idx="0"/>
          </p:cNvCxnSpPr>
          <p:nvPr/>
        </p:nvCxnSpPr>
        <p:spPr>
          <a:xfrm>
            <a:off x="1217650" y="1836072"/>
            <a:ext cx="0" cy="675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4" name="Google Shape;534;p57"/>
          <p:cNvCxnSpPr>
            <a:stCxn id="533" idx="3"/>
            <a:endCxn id="535" idx="1"/>
          </p:cNvCxnSpPr>
          <p:nvPr/>
        </p:nvCxnSpPr>
        <p:spPr>
          <a:xfrm>
            <a:off x="2103100" y="2870188"/>
            <a:ext cx="668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6" name="Google Shape;536;p57"/>
          <p:cNvCxnSpPr>
            <a:stCxn id="535" idx="3"/>
            <a:endCxn id="537" idx="1"/>
          </p:cNvCxnSpPr>
          <p:nvPr/>
        </p:nvCxnSpPr>
        <p:spPr>
          <a:xfrm>
            <a:off x="4015387" y="2870188"/>
            <a:ext cx="34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8" name="Google Shape;538;p57"/>
          <p:cNvCxnSpPr>
            <a:stCxn id="537" idx="3"/>
            <a:endCxn id="539" idx="1"/>
          </p:cNvCxnSpPr>
          <p:nvPr/>
        </p:nvCxnSpPr>
        <p:spPr>
          <a:xfrm>
            <a:off x="5606688" y="2870188"/>
            <a:ext cx="34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0" name="Google Shape;540;p57"/>
          <p:cNvCxnSpPr>
            <a:stCxn id="539" idx="3"/>
            <a:endCxn id="541" idx="1"/>
          </p:cNvCxnSpPr>
          <p:nvPr/>
        </p:nvCxnSpPr>
        <p:spPr>
          <a:xfrm>
            <a:off x="7197990" y="2870188"/>
            <a:ext cx="34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2" name="Google Shape;542;p57"/>
          <p:cNvCxnSpPr>
            <a:stCxn id="543" idx="0"/>
            <a:endCxn id="541" idx="2"/>
          </p:cNvCxnSpPr>
          <p:nvPr/>
        </p:nvCxnSpPr>
        <p:spPr>
          <a:xfrm rot="-5400000">
            <a:off x="5395837" y="980050"/>
            <a:ext cx="523500" cy="50202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44" name="Google Shape;544;p57"/>
          <p:cNvCxnSpPr/>
          <p:nvPr/>
        </p:nvCxnSpPr>
        <p:spPr>
          <a:xfrm flipH="1" rot="5400000">
            <a:off x="1761299" y="3405100"/>
            <a:ext cx="1352400" cy="362400"/>
          </a:xfrm>
          <a:prstGeom prst="bentConnector3">
            <a:avLst>
              <a:gd fmla="val 7919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5" name="Google Shape;545;p57"/>
          <p:cNvSpPr/>
          <p:nvPr/>
        </p:nvSpPr>
        <p:spPr>
          <a:xfrm>
            <a:off x="1749900" y="2027752"/>
            <a:ext cx="1375200" cy="314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push</a:t>
            </a:r>
            <a:endParaRPr sz="1000">
              <a:solidFill>
                <a:srgbClr val="1A1A1A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46" name="Google Shape;546;p57"/>
          <p:cNvSpPr/>
          <p:nvPr/>
        </p:nvSpPr>
        <p:spPr>
          <a:xfrm>
            <a:off x="3567475" y="2027752"/>
            <a:ext cx="1243500" cy="314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watch</a:t>
            </a:r>
            <a:endParaRPr sz="1000">
              <a:solidFill>
                <a:srgbClr val="1A1A1A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47" name="Google Shape;547;p57"/>
          <p:cNvSpPr/>
          <p:nvPr/>
        </p:nvSpPr>
        <p:spPr>
          <a:xfrm>
            <a:off x="5158825" y="2027752"/>
            <a:ext cx="1243500" cy="314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diff</a:t>
            </a:r>
            <a:endParaRPr sz="1000">
              <a:solidFill>
                <a:srgbClr val="1A1A1A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48" name="Google Shape;548;p57"/>
          <p:cNvSpPr/>
          <p:nvPr/>
        </p:nvSpPr>
        <p:spPr>
          <a:xfrm>
            <a:off x="6750175" y="2027752"/>
            <a:ext cx="1243500" cy="314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sync</a:t>
            </a:r>
            <a:endParaRPr sz="1000">
              <a:solidFill>
                <a:srgbClr val="1A1A1A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549" name="Google Shape;549;p57"/>
          <p:cNvCxnSpPr>
            <a:stCxn id="543" idx="3"/>
            <a:endCxn id="550" idx="1"/>
          </p:cNvCxnSpPr>
          <p:nvPr/>
        </p:nvCxnSpPr>
        <p:spPr>
          <a:xfrm>
            <a:off x="3769237" y="4110100"/>
            <a:ext cx="594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1" name="Google Shape;551;p57"/>
          <p:cNvCxnSpPr>
            <a:stCxn id="550" idx="3"/>
            <a:endCxn id="552" idx="1"/>
          </p:cNvCxnSpPr>
          <p:nvPr/>
        </p:nvCxnSpPr>
        <p:spPr>
          <a:xfrm>
            <a:off x="5606688" y="4110100"/>
            <a:ext cx="347700" cy="0"/>
          </a:xfrm>
          <a:prstGeom prst="straightConnector1">
            <a:avLst/>
          </a:prstGeom>
          <a:noFill/>
          <a:ln cap="flat" cmpd="sng" w="19050">
            <a:solidFill>
              <a:srgbClr val="F9AB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3" name="Google Shape;553;p57"/>
          <p:cNvCxnSpPr>
            <a:stCxn id="552" idx="3"/>
            <a:endCxn id="554" idx="1"/>
          </p:cNvCxnSpPr>
          <p:nvPr/>
        </p:nvCxnSpPr>
        <p:spPr>
          <a:xfrm>
            <a:off x="7198013" y="4110100"/>
            <a:ext cx="347700" cy="0"/>
          </a:xfrm>
          <a:prstGeom prst="straightConnector1">
            <a:avLst/>
          </a:prstGeom>
          <a:noFill/>
          <a:ln cap="flat" cmpd="sng" w="19050">
            <a:solidFill>
              <a:srgbClr val="F9AB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5" name="Google Shape;555;p57"/>
          <p:cNvSpPr/>
          <p:nvPr/>
        </p:nvSpPr>
        <p:spPr>
          <a:xfrm>
            <a:off x="3631400" y="3953050"/>
            <a:ext cx="546300" cy="314100"/>
          </a:xfrm>
          <a:prstGeom prst="roundRect">
            <a:avLst>
              <a:gd fmla="val 50000" name="adj"/>
            </a:avLst>
          </a:prstGeom>
          <a:solidFill>
            <a:srgbClr val="FF7DA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Não</a:t>
            </a:r>
            <a:endParaRPr sz="13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32" name="Google Shape;532;p57"/>
          <p:cNvSpPr/>
          <p:nvPr/>
        </p:nvSpPr>
        <p:spPr>
          <a:xfrm>
            <a:off x="332200" y="1119672"/>
            <a:ext cx="1770900" cy="716400"/>
          </a:xfrm>
          <a:prstGeom prst="roundRect">
            <a:avLst>
              <a:gd fmla="val 18087" name="adj"/>
            </a:avLst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Edita YAML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33" name="Google Shape;533;p57"/>
          <p:cNvSpPr/>
          <p:nvPr/>
        </p:nvSpPr>
        <p:spPr>
          <a:xfrm>
            <a:off x="332200" y="2511988"/>
            <a:ext cx="17709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commit + push (master)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35" name="Google Shape;535;p57"/>
          <p:cNvSpPr/>
          <p:nvPr/>
        </p:nvSpPr>
        <p:spPr>
          <a:xfrm>
            <a:off x="2771887" y="2511988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ArgoCD observa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37" name="Google Shape;537;p57"/>
          <p:cNvSpPr/>
          <p:nvPr/>
        </p:nvSpPr>
        <p:spPr>
          <a:xfrm>
            <a:off x="4363188" y="2511988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Compara (diff)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39" name="Google Shape;539;p57"/>
          <p:cNvSpPr/>
          <p:nvPr/>
        </p:nvSpPr>
        <p:spPr>
          <a:xfrm>
            <a:off x="5954490" y="2511988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Sincroniza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41" name="Google Shape;541;p57"/>
          <p:cNvSpPr/>
          <p:nvPr/>
        </p:nvSpPr>
        <p:spPr>
          <a:xfrm>
            <a:off x="7545792" y="2511988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Aplica no cluster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50" name="Google Shape;550;p57"/>
          <p:cNvSpPr/>
          <p:nvPr/>
        </p:nvSpPr>
        <p:spPr>
          <a:xfrm>
            <a:off x="4363188" y="3751900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Mantém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52" name="Google Shape;552;p57"/>
          <p:cNvSpPr/>
          <p:nvPr/>
        </p:nvSpPr>
        <p:spPr>
          <a:xfrm>
            <a:off x="5954513" y="3751900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selfHeal desfaz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54" name="Google Shape;554;p57"/>
          <p:cNvSpPr/>
          <p:nvPr/>
        </p:nvSpPr>
        <p:spPr>
          <a:xfrm>
            <a:off x="7545800" y="3751900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Cluster = Git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43" name="Google Shape;543;p57"/>
          <p:cNvSpPr/>
          <p:nvPr/>
        </p:nvSpPr>
        <p:spPr>
          <a:xfrm>
            <a:off x="2525737" y="3751900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57CA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Mudança manual?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7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848075" y="772782"/>
            <a:ext cx="71640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Ingress e DuckDNS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848075" y="1551778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Ingress: porta de entrada HTTP/HTTPS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k3s já vem com Traefik como Ingress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DuckDNS: DNS dinâmico e grátis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devfestinfoeste.duckdns.org → IP da VM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4"/>
          <p:cNvSpPr/>
          <p:nvPr/>
        </p:nvSpPr>
        <p:spPr>
          <a:xfrm>
            <a:off x="256000" y="247500"/>
            <a:ext cx="8457000" cy="615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As peças do caminho até a app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465" name="Google Shape;465;p54"/>
          <p:cNvSpPr/>
          <p:nvPr/>
        </p:nvSpPr>
        <p:spPr>
          <a:xfrm>
            <a:off x="332194" y="1308325"/>
            <a:ext cx="8457000" cy="8856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Navegador</a:t>
            </a:r>
            <a:endParaRPr sz="10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466" name="Google Shape;466;p54"/>
          <p:cNvSpPr/>
          <p:nvPr/>
        </p:nvSpPr>
        <p:spPr>
          <a:xfrm>
            <a:off x="6189389" y="30058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Service</a:t>
            </a:r>
            <a:endParaRPr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67" name="Google Shape;467;p54"/>
          <p:cNvSpPr/>
          <p:nvPr/>
        </p:nvSpPr>
        <p:spPr>
          <a:xfrm>
            <a:off x="3260804" y="30058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FF7DA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Traefik</a:t>
            </a:r>
            <a:endParaRPr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68" name="Google Shape;468;p54"/>
          <p:cNvSpPr/>
          <p:nvPr/>
        </p:nvSpPr>
        <p:spPr>
          <a:xfrm>
            <a:off x="332219" y="30058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FFD427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DuckDNS</a:t>
            </a:r>
            <a:endParaRPr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69" name="Google Shape;469;p54"/>
          <p:cNvSpPr/>
          <p:nvPr/>
        </p:nvSpPr>
        <p:spPr>
          <a:xfrm>
            <a:off x="4800589" y="39690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1E1E1E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Pod(s) da aplicação</a:t>
            </a:r>
            <a:endParaRPr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70" name="Google Shape;470;p54"/>
          <p:cNvSpPr/>
          <p:nvPr/>
        </p:nvSpPr>
        <p:spPr>
          <a:xfrm>
            <a:off x="1743894" y="39690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1E1E1E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Resolve IP da VM</a:t>
            </a:r>
            <a:endParaRPr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471" name="Google Shape;471;p54"/>
          <p:cNvCxnSpPr>
            <a:endCxn id="468" idx="0"/>
          </p:cNvCxnSpPr>
          <p:nvPr/>
        </p:nvCxnSpPr>
        <p:spPr>
          <a:xfrm>
            <a:off x="1631969" y="2204525"/>
            <a:ext cx="0" cy="801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2" name="Google Shape;472;p54"/>
          <p:cNvCxnSpPr/>
          <p:nvPr/>
        </p:nvCxnSpPr>
        <p:spPr>
          <a:xfrm>
            <a:off x="7489144" y="2204650"/>
            <a:ext cx="0" cy="801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3" name="Google Shape;473;p54"/>
          <p:cNvCxnSpPr/>
          <p:nvPr/>
        </p:nvCxnSpPr>
        <p:spPr>
          <a:xfrm>
            <a:off x="4571994" y="2204650"/>
            <a:ext cx="0" cy="801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" name="Google Shape;474;p54"/>
          <p:cNvCxnSpPr/>
          <p:nvPr/>
        </p:nvCxnSpPr>
        <p:spPr>
          <a:xfrm>
            <a:off x="2466750" y="3392600"/>
            <a:ext cx="0" cy="576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5" name="Google Shape;475;p54"/>
          <p:cNvCxnSpPr/>
          <p:nvPr/>
        </p:nvCxnSpPr>
        <p:spPr>
          <a:xfrm>
            <a:off x="6565700" y="3392600"/>
            <a:ext cx="0" cy="576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3724885" y="812253"/>
            <a:ext cx="4785600" cy="29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Demonstração ao vivo: deploy real na Oracle Cloud</a:t>
            </a:r>
            <a:endParaRPr b="1" sz="3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3724885" y="3887703"/>
            <a:ext cx="25698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Cluster, exposição pública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e escalonamento ao vivo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791640" y="993262"/>
            <a:ext cx="16599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OCI · k3s</a:t>
            </a:r>
            <a:endParaRPr sz="7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834541" y="209432"/>
            <a:ext cx="1659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08</a:t>
            </a:r>
            <a:endParaRPr sz="25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/>
        </p:nvSpPr>
        <p:spPr>
          <a:xfrm>
            <a:off x="3724885" y="843311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Hora do Kahoot!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3704182" y="2975674"/>
            <a:ext cx="36294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Perguntas fáceis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para fixar o que vimos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hoje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791640" y="993262"/>
            <a:ext cx="16599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kahoot.it</a:t>
            </a:r>
            <a:endParaRPr sz="7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834541" y="209432"/>
            <a:ext cx="1659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09</a:t>
            </a:r>
            <a:endParaRPr sz="25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C30"/>
        </a:solidFill>
        <a:effectLst/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/>
          <p:nvPr/>
        </p:nvSpPr>
        <p:spPr>
          <a:xfrm>
            <a:off x="369100" y="2012150"/>
            <a:ext cx="4805100" cy="2774100"/>
          </a:xfrm>
          <a:prstGeom prst="roundRect">
            <a:avLst>
              <a:gd fmla="val 7725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4572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Obrigada! Todo o material, manifests e scripts desta aula estão no GitHub.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github.com/Andressa172/MaterialInfoeste26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Andressa Diniz &amp; Felipe Barreto · GDG Presidente Prudente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401" name="Google Shape;40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100" y="500625"/>
            <a:ext cx="3758157" cy="1176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0"/>
          <p:cNvPicPr preferRelativeResize="0"/>
          <p:nvPr/>
        </p:nvPicPr>
        <p:blipFill rotWithShape="1">
          <a:blip r:embed="rId5">
            <a:alphaModFix/>
          </a:blip>
          <a:srcRect b="90315" l="0" r="0" t="0"/>
          <a:stretch/>
        </p:blipFill>
        <p:spPr>
          <a:xfrm>
            <a:off x="4933625" y="-575125"/>
            <a:ext cx="4210374" cy="57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0"/>
          <p:cNvSpPr txBox="1"/>
          <p:nvPr/>
        </p:nvSpPr>
        <p:spPr>
          <a:xfrm>
            <a:off x="975498" y="1243275"/>
            <a:ext cx="1030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Perguntas?</a:t>
            </a:r>
            <a:endParaRPr sz="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4" name="Google Shape;404;p50"/>
          <p:cNvSpPr txBox="1"/>
          <p:nvPr/>
        </p:nvSpPr>
        <p:spPr>
          <a:xfrm>
            <a:off x="899298" y="583774"/>
            <a:ext cx="1030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Valeu!</a:t>
            </a:r>
            <a:endParaRPr sz="205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vFest 2026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EA4335"/>
      </a:accent2>
      <a:accent3>
        <a:srgbClr val="FBBC04"/>
      </a:accent3>
      <a:accent4>
        <a:srgbClr val="34A853"/>
      </a:accent4>
      <a:accent5>
        <a:srgbClr val="009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